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EAD99A5-2BF6-4DF7-801D-4D04DBB4470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FDDC666-2E13-4F23-878F-D33FC83DA6E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BC3907D-2E2A-46C5-8368-3041E7EE857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4EBEE5E-4FB8-4B73-B16E-EA4437E1E07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37D90E-A669-4CC7-AF5A-D0A37BC6D77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B726F8-6BDC-4CDD-A426-5178B6E3EE2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087F1E3-B414-4A49-9DC7-4D9A06F03DF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0C4853F-EADF-487C-9629-F760B382DBE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731520" y="2103120"/>
            <a:ext cx="106981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pc="99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EDGE-LLM CODEC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731520" y="3063240"/>
            <a:ext cx="98751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4FD1C5"/>
                </a:solidFill>
                <a:effectLst/>
                <a:uFillTx/>
                <a:latin typeface="Arial"/>
                <a:ea typeface="Arial"/>
              </a:rPr>
              <a:t>A Compression-Aware Hardware Pipeline for Deploying LLMs on Flash / DRAM / SRAM-Constrained Edge Devices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731520" y="3977640"/>
            <a:ext cx="9875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9AA7C2"/>
                </a:solidFill>
                <a:effectLst/>
                <a:uFillTx/>
                <a:latin typeface="Arial"/>
                <a:ea typeface="Arial"/>
              </a:rPr>
              <a:t>Honours Project  •  Qwen3-8B  →  SparseGPT + AWQ-4bit + QAT/QAFT  →  Tile-wise Zstd  →  HW Codec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8778240" y="5120640"/>
            <a:ext cx="383760" cy="383760"/>
          </a:xfrm>
          <a:prstGeom prst="roundRect">
            <a:avLst>
              <a:gd name="adj" fmla="val 11905"/>
            </a:avLst>
          </a:prstGeom>
          <a:solidFill>
            <a:srgbClr val="4FD1C5">
              <a:alpha val="8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9253800" y="5120640"/>
            <a:ext cx="383760" cy="383760"/>
          </a:xfrm>
          <a:prstGeom prst="roundRect">
            <a:avLst>
              <a:gd name="adj" fmla="val 11905"/>
            </a:avLst>
          </a:prstGeom>
          <a:solidFill>
            <a:srgbClr val="F0B429">
              <a:alpha val="8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9729360" y="5120640"/>
            <a:ext cx="383760" cy="383760"/>
          </a:xfrm>
          <a:prstGeom prst="roundRect">
            <a:avLst>
              <a:gd name="adj" fmla="val 11905"/>
            </a:avLst>
          </a:prstGeom>
          <a:solidFill>
            <a:srgbClr val="7C9CFF">
              <a:alpha val="8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10204560" y="5120640"/>
            <a:ext cx="383760" cy="383760"/>
          </a:xfrm>
          <a:prstGeom prst="roundRect">
            <a:avLst>
              <a:gd name="adj" fmla="val 11905"/>
            </a:avLst>
          </a:prstGeom>
          <a:solidFill>
            <a:srgbClr val="1823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10680120" y="5120640"/>
            <a:ext cx="383760" cy="383760"/>
          </a:xfrm>
          <a:prstGeom prst="roundRect">
            <a:avLst>
              <a:gd name="adj" fmla="val 11905"/>
            </a:avLst>
          </a:prstGeom>
          <a:solidFill>
            <a:srgbClr val="4FD1C5">
              <a:alpha val="8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8"/>
          <p:cNvSpPr/>
          <p:nvPr/>
        </p:nvSpPr>
        <p:spPr>
          <a:xfrm>
            <a:off x="11155680" y="5120640"/>
            <a:ext cx="383760" cy="383760"/>
          </a:xfrm>
          <a:prstGeom prst="roundRect">
            <a:avLst>
              <a:gd name="adj" fmla="val 11905"/>
            </a:avLst>
          </a:prstGeom>
          <a:solidFill>
            <a:srgbClr val="F0B429">
              <a:alpha val="8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9"/>
          <p:cNvSpPr/>
          <p:nvPr/>
        </p:nvSpPr>
        <p:spPr>
          <a:xfrm>
            <a:off x="8778240" y="5596200"/>
            <a:ext cx="383760" cy="383760"/>
          </a:xfrm>
          <a:prstGeom prst="roundRect">
            <a:avLst>
              <a:gd name="adj" fmla="val 11905"/>
            </a:avLst>
          </a:prstGeom>
          <a:solidFill>
            <a:srgbClr val="7C9CFF">
              <a:alpha val="8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0"/>
          <p:cNvSpPr/>
          <p:nvPr/>
        </p:nvSpPr>
        <p:spPr>
          <a:xfrm>
            <a:off x="9253800" y="5596200"/>
            <a:ext cx="383760" cy="383760"/>
          </a:xfrm>
          <a:prstGeom prst="roundRect">
            <a:avLst>
              <a:gd name="adj" fmla="val 11905"/>
            </a:avLst>
          </a:prstGeom>
          <a:solidFill>
            <a:srgbClr val="1823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1"/>
          <p:cNvSpPr/>
          <p:nvPr/>
        </p:nvSpPr>
        <p:spPr>
          <a:xfrm>
            <a:off x="9729360" y="5596200"/>
            <a:ext cx="383760" cy="383760"/>
          </a:xfrm>
          <a:prstGeom prst="roundRect">
            <a:avLst>
              <a:gd name="adj" fmla="val 11905"/>
            </a:avLst>
          </a:prstGeom>
          <a:solidFill>
            <a:srgbClr val="4FD1C5">
              <a:alpha val="8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2"/>
          <p:cNvSpPr/>
          <p:nvPr/>
        </p:nvSpPr>
        <p:spPr>
          <a:xfrm>
            <a:off x="10204560" y="5596200"/>
            <a:ext cx="383760" cy="383760"/>
          </a:xfrm>
          <a:prstGeom prst="roundRect">
            <a:avLst>
              <a:gd name="adj" fmla="val 11905"/>
            </a:avLst>
          </a:prstGeom>
          <a:solidFill>
            <a:srgbClr val="F0B429">
              <a:alpha val="8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3"/>
          <p:cNvSpPr/>
          <p:nvPr/>
        </p:nvSpPr>
        <p:spPr>
          <a:xfrm>
            <a:off x="10680120" y="5596200"/>
            <a:ext cx="383760" cy="383760"/>
          </a:xfrm>
          <a:prstGeom prst="roundRect">
            <a:avLst>
              <a:gd name="adj" fmla="val 11905"/>
            </a:avLst>
          </a:prstGeom>
          <a:solidFill>
            <a:srgbClr val="7C9CFF">
              <a:alpha val="8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4"/>
          <p:cNvSpPr/>
          <p:nvPr/>
        </p:nvSpPr>
        <p:spPr>
          <a:xfrm>
            <a:off x="11155680" y="5596200"/>
            <a:ext cx="383760" cy="383760"/>
          </a:xfrm>
          <a:prstGeom prst="roundRect">
            <a:avLst>
              <a:gd name="adj" fmla="val 11905"/>
            </a:avLst>
          </a:prstGeom>
          <a:solidFill>
            <a:srgbClr val="1823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5"/>
          <p:cNvSpPr/>
          <p:nvPr/>
        </p:nvSpPr>
        <p:spPr>
          <a:xfrm>
            <a:off x="8778240" y="6071760"/>
            <a:ext cx="383760" cy="383760"/>
          </a:xfrm>
          <a:prstGeom prst="roundRect">
            <a:avLst>
              <a:gd name="adj" fmla="val 11905"/>
            </a:avLst>
          </a:prstGeom>
          <a:solidFill>
            <a:srgbClr val="4FD1C5">
              <a:alpha val="8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6"/>
          <p:cNvSpPr/>
          <p:nvPr/>
        </p:nvSpPr>
        <p:spPr>
          <a:xfrm>
            <a:off x="9253800" y="6071760"/>
            <a:ext cx="383760" cy="383760"/>
          </a:xfrm>
          <a:prstGeom prst="roundRect">
            <a:avLst>
              <a:gd name="adj" fmla="val 11905"/>
            </a:avLst>
          </a:prstGeom>
          <a:solidFill>
            <a:srgbClr val="F0B429">
              <a:alpha val="8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7"/>
          <p:cNvSpPr/>
          <p:nvPr/>
        </p:nvSpPr>
        <p:spPr>
          <a:xfrm>
            <a:off x="9729360" y="6071760"/>
            <a:ext cx="383760" cy="383760"/>
          </a:xfrm>
          <a:prstGeom prst="roundRect">
            <a:avLst>
              <a:gd name="adj" fmla="val 11905"/>
            </a:avLst>
          </a:prstGeom>
          <a:solidFill>
            <a:srgbClr val="7C9CFF">
              <a:alpha val="8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8"/>
          <p:cNvSpPr/>
          <p:nvPr/>
        </p:nvSpPr>
        <p:spPr>
          <a:xfrm>
            <a:off x="10204560" y="6071760"/>
            <a:ext cx="383760" cy="383760"/>
          </a:xfrm>
          <a:prstGeom prst="roundRect">
            <a:avLst>
              <a:gd name="adj" fmla="val 11905"/>
            </a:avLst>
          </a:prstGeom>
          <a:solidFill>
            <a:srgbClr val="1823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9"/>
          <p:cNvSpPr/>
          <p:nvPr/>
        </p:nvSpPr>
        <p:spPr>
          <a:xfrm>
            <a:off x="10680120" y="6071760"/>
            <a:ext cx="383760" cy="383760"/>
          </a:xfrm>
          <a:prstGeom prst="roundRect">
            <a:avLst>
              <a:gd name="adj" fmla="val 11905"/>
            </a:avLst>
          </a:prstGeom>
          <a:solidFill>
            <a:srgbClr val="4FD1C5">
              <a:alpha val="8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20"/>
          <p:cNvSpPr/>
          <p:nvPr/>
        </p:nvSpPr>
        <p:spPr>
          <a:xfrm>
            <a:off x="11155680" y="6071760"/>
            <a:ext cx="383760" cy="383760"/>
          </a:xfrm>
          <a:prstGeom prst="roundRect">
            <a:avLst>
              <a:gd name="adj" fmla="val 11905"/>
            </a:avLst>
          </a:prstGeom>
          <a:solidFill>
            <a:srgbClr val="F0B429">
              <a:alpha val="8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0"/>
          <p:cNvSpPr/>
          <p:nvPr/>
        </p:nvSpPr>
        <p:spPr>
          <a:xfrm>
            <a:off x="548640" y="41148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THE PROBLEM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"/>
          <p:cNvSpPr/>
          <p:nvPr/>
        </p:nvSpPr>
        <p:spPr>
          <a:xfrm>
            <a:off x="548640" y="96012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AA7C2"/>
                </a:solidFill>
                <a:effectLst/>
                <a:uFillTx/>
                <a:latin typeface="Arial"/>
                <a:ea typeface="Arial"/>
              </a:rPr>
              <a:t>Dense 8B-class LLMs don't fit edge silicon, even after pruning and quantization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2"/>
          <p:cNvSpPr/>
          <p:nvPr/>
        </p:nvSpPr>
        <p:spPr>
          <a:xfrm>
            <a:off x="731520" y="1828800"/>
            <a:ext cx="3200040" cy="1828440"/>
          </a:xfrm>
          <a:prstGeom prst="roundRect">
            <a:avLst>
              <a:gd name="adj" fmla="val 4000"/>
            </a:avLst>
          </a:prstGeom>
          <a:solidFill>
            <a:srgbClr val="121A2B"/>
          </a:solidFill>
          <a:ln w="19050">
            <a:solidFill>
              <a:srgbClr val="9AA7C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3"/>
          <p:cNvSpPr/>
          <p:nvPr/>
        </p:nvSpPr>
        <p:spPr>
          <a:xfrm>
            <a:off x="868680" y="201168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BF16 Dense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4"/>
          <p:cNvSpPr/>
          <p:nvPr/>
        </p:nvSpPr>
        <p:spPr>
          <a:xfrm>
            <a:off x="868680" y="2606040"/>
            <a:ext cx="29257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9AA7C2"/>
                </a:solidFill>
                <a:effectLst/>
                <a:uFillTx/>
                <a:latin typeface="Arial"/>
                <a:ea typeface="Arial"/>
              </a:rPr>
              <a:t>~16 GB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5"/>
          <p:cNvSpPr/>
          <p:nvPr/>
        </p:nvSpPr>
        <p:spPr>
          <a:xfrm>
            <a:off x="4005000" y="2606040"/>
            <a:ext cx="356400" cy="2739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AA7C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6"/>
          <p:cNvSpPr/>
          <p:nvPr/>
        </p:nvSpPr>
        <p:spPr>
          <a:xfrm>
            <a:off x="4434840" y="1828800"/>
            <a:ext cx="3200040" cy="1828440"/>
          </a:xfrm>
          <a:prstGeom prst="roundRect">
            <a:avLst>
              <a:gd name="adj" fmla="val 4000"/>
            </a:avLst>
          </a:prstGeom>
          <a:solidFill>
            <a:srgbClr val="121A2B"/>
          </a:solidFill>
          <a:ln w="19050">
            <a:solidFill>
              <a:srgbClr val="7C9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7"/>
          <p:cNvSpPr/>
          <p:nvPr/>
        </p:nvSpPr>
        <p:spPr>
          <a:xfrm>
            <a:off x="4572000" y="201168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Pruned + AWQ-4bit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8"/>
          <p:cNvSpPr/>
          <p:nvPr/>
        </p:nvSpPr>
        <p:spPr>
          <a:xfrm>
            <a:off x="4572000" y="2606040"/>
            <a:ext cx="29257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7C9CFF"/>
                </a:solidFill>
                <a:effectLst/>
                <a:uFillTx/>
                <a:latin typeface="Arial"/>
                <a:ea typeface="Arial"/>
              </a:rPr>
              <a:t>~5-6 GB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9"/>
          <p:cNvSpPr/>
          <p:nvPr/>
        </p:nvSpPr>
        <p:spPr>
          <a:xfrm>
            <a:off x="7708320" y="2606040"/>
            <a:ext cx="356400" cy="2739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AA7C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10"/>
          <p:cNvSpPr/>
          <p:nvPr/>
        </p:nvSpPr>
        <p:spPr>
          <a:xfrm>
            <a:off x="8138160" y="1828800"/>
            <a:ext cx="3200040" cy="1828440"/>
          </a:xfrm>
          <a:prstGeom prst="roundRect">
            <a:avLst>
              <a:gd name="adj" fmla="val 4000"/>
            </a:avLst>
          </a:prstGeom>
          <a:solidFill>
            <a:srgbClr val="121A2B"/>
          </a:solidFill>
          <a:ln w="19050">
            <a:solidFill>
              <a:srgbClr val="F0B4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1"/>
          <p:cNvSpPr/>
          <p:nvPr/>
        </p:nvSpPr>
        <p:spPr>
          <a:xfrm>
            <a:off x="8275320" y="201168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Edge NPU budget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2"/>
          <p:cNvSpPr/>
          <p:nvPr/>
        </p:nvSpPr>
        <p:spPr>
          <a:xfrm>
            <a:off x="8275320" y="2606040"/>
            <a:ext cx="29257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0B429"/>
                </a:solidFill>
                <a:effectLst/>
                <a:uFillTx/>
                <a:latin typeface="Arial"/>
                <a:ea typeface="Arial"/>
              </a:rPr>
              <a:t>tens of MB SRAM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0B429"/>
                </a:solidFill>
                <a:effectLst/>
                <a:uFillTx/>
                <a:latin typeface="Arial"/>
                <a:ea typeface="Arial"/>
              </a:rPr>
              <a:t>+ a few GB DRAM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3"/>
          <p:cNvSpPr/>
          <p:nvPr/>
        </p:nvSpPr>
        <p:spPr>
          <a:xfrm>
            <a:off x="731520" y="4206240"/>
            <a:ext cx="105152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E8EDF7"/>
                </a:solidFill>
                <a:effectLst/>
                <a:uFillTx/>
                <a:latin typeface="Arial"/>
                <a:ea typeface="Arial"/>
              </a:rPr>
              <a:t>Even at 4-bit, weights alone overflow edge flash/DRAM budgets — and the KV cache keeps growing with every generated token. Compression can't be an offline afterthought: it has to be a first-class stage of the inference datapath itself, with dedicated hardware to decompress weight tiles and to compress/decompress the KV cache in real time.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4"/>
          <p:cNvSpPr/>
          <p:nvPr/>
        </p:nvSpPr>
        <p:spPr>
          <a:xfrm>
            <a:off x="365760" y="653796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AA7C2"/>
                </a:solidFill>
                <a:effectLst/>
                <a:uFillTx/>
                <a:latin typeface="Arial"/>
                <a:ea typeface="Arial"/>
              </a:rPr>
              <a:t>Edge-LLM Codec  |  Motivation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0"/>
          <p:cNvSpPr/>
          <p:nvPr/>
        </p:nvSpPr>
        <p:spPr>
          <a:xfrm>
            <a:off x="548640" y="41148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SOFTWARE PIPELINE (COMPLETE)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1"/>
          <p:cNvSpPr/>
          <p:nvPr/>
        </p:nvSpPr>
        <p:spPr>
          <a:xfrm>
            <a:off x="548640" y="1371600"/>
            <a:ext cx="1965600" cy="1234080"/>
          </a:xfrm>
          <a:prstGeom prst="roundRect">
            <a:avLst>
              <a:gd name="adj" fmla="val 5926"/>
            </a:avLst>
          </a:prstGeom>
          <a:solidFill>
            <a:srgbClr val="121A2B"/>
          </a:solidFill>
          <a:ln w="19050">
            <a:solidFill>
              <a:srgbClr val="1823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"/>
          <p:cNvSpPr/>
          <p:nvPr/>
        </p:nvSpPr>
        <p:spPr>
          <a:xfrm>
            <a:off x="640080" y="1508760"/>
            <a:ext cx="1782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Qwen3-8B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3"/>
          <p:cNvSpPr/>
          <p:nvPr/>
        </p:nvSpPr>
        <p:spPr>
          <a:xfrm>
            <a:off x="640080" y="1993320"/>
            <a:ext cx="1782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A7C2"/>
                </a:solidFill>
                <a:effectLst/>
                <a:uFillTx/>
                <a:latin typeface="Arial"/>
                <a:ea typeface="Arial"/>
              </a:rPr>
              <a:t>Dense BF16 baseline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4"/>
          <p:cNvSpPr/>
          <p:nvPr/>
        </p:nvSpPr>
        <p:spPr>
          <a:xfrm>
            <a:off x="2532960" y="1888200"/>
            <a:ext cx="21924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AA7C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5"/>
          <p:cNvSpPr/>
          <p:nvPr/>
        </p:nvSpPr>
        <p:spPr>
          <a:xfrm>
            <a:off x="2770560" y="1371600"/>
            <a:ext cx="1965600" cy="1234080"/>
          </a:xfrm>
          <a:prstGeom prst="roundRect">
            <a:avLst>
              <a:gd name="adj" fmla="val 5926"/>
            </a:avLst>
          </a:prstGeom>
          <a:solidFill>
            <a:srgbClr val="121A2B"/>
          </a:solidFill>
          <a:ln w="19050">
            <a:solidFill>
              <a:srgbClr val="7C9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6"/>
          <p:cNvSpPr/>
          <p:nvPr/>
        </p:nvSpPr>
        <p:spPr>
          <a:xfrm>
            <a:off x="2862000" y="1508760"/>
            <a:ext cx="1782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SparseGPT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7"/>
          <p:cNvSpPr/>
          <p:nvPr/>
        </p:nvSpPr>
        <p:spPr>
          <a:xfrm>
            <a:off x="2862000" y="1993320"/>
            <a:ext cx="1782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A7C2"/>
                </a:solidFill>
                <a:effectLst/>
                <a:uFillTx/>
                <a:latin typeface="Arial"/>
                <a:ea typeface="Arial"/>
              </a:rPr>
              <a:t>One-shot Hessian pruning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8"/>
          <p:cNvSpPr/>
          <p:nvPr/>
        </p:nvSpPr>
        <p:spPr>
          <a:xfrm>
            <a:off x="4754880" y="1888200"/>
            <a:ext cx="21924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AA7C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9"/>
          <p:cNvSpPr/>
          <p:nvPr/>
        </p:nvSpPr>
        <p:spPr>
          <a:xfrm>
            <a:off x="4992480" y="1371600"/>
            <a:ext cx="1965600" cy="1234080"/>
          </a:xfrm>
          <a:prstGeom prst="roundRect">
            <a:avLst>
              <a:gd name="adj" fmla="val 5926"/>
            </a:avLst>
          </a:prstGeom>
          <a:solidFill>
            <a:srgbClr val="121A2B"/>
          </a:solidFill>
          <a:ln w="19050">
            <a:solidFill>
              <a:srgbClr val="7C9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0"/>
          <p:cNvSpPr/>
          <p:nvPr/>
        </p:nvSpPr>
        <p:spPr>
          <a:xfrm>
            <a:off x="5083920" y="1508760"/>
            <a:ext cx="1782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AWQ 4-bit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1"/>
          <p:cNvSpPr/>
          <p:nvPr/>
        </p:nvSpPr>
        <p:spPr>
          <a:xfrm>
            <a:off x="5083920" y="1993320"/>
            <a:ext cx="1782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A7C2"/>
                </a:solidFill>
                <a:effectLst/>
                <a:uFillTx/>
                <a:latin typeface="Arial"/>
                <a:ea typeface="Arial"/>
              </a:rPr>
              <a:t>Activation-aware quant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12"/>
          <p:cNvSpPr/>
          <p:nvPr/>
        </p:nvSpPr>
        <p:spPr>
          <a:xfrm>
            <a:off x="6976800" y="1888200"/>
            <a:ext cx="21924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AA7C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3"/>
          <p:cNvSpPr/>
          <p:nvPr/>
        </p:nvSpPr>
        <p:spPr>
          <a:xfrm>
            <a:off x="7214760" y="1371600"/>
            <a:ext cx="1965600" cy="1234080"/>
          </a:xfrm>
          <a:prstGeom prst="roundRect">
            <a:avLst>
              <a:gd name="adj" fmla="val 5926"/>
            </a:avLst>
          </a:prstGeom>
          <a:solidFill>
            <a:srgbClr val="121A2B"/>
          </a:solidFill>
          <a:ln w="19050">
            <a:solidFill>
              <a:srgbClr val="7C9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4"/>
          <p:cNvSpPr/>
          <p:nvPr/>
        </p:nvSpPr>
        <p:spPr>
          <a:xfrm>
            <a:off x="7306200" y="1508760"/>
            <a:ext cx="1782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QAT / QAFT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5"/>
          <p:cNvSpPr/>
          <p:nvPr/>
        </p:nvSpPr>
        <p:spPr>
          <a:xfrm>
            <a:off x="7306200" y="1993320"/>
            <a:ext cx="1782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A7C2"/>
                </a:solidFill>
                <a:effectLst/>
                <a:uFillTx/>
                <a:latin typeface="Arial"/>
                <a:ea typeface="Arial"/>
              </a:rPr>
              <a:t>Accuracy recovery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16"/>
          <p:cNvSpPr/>
          <p:nvPr/>
        </p:nvSpPr>
        <p:spPr>
          <a:xfrm>
            <a:off x="9198720" y="1888200"/>
            <a:ext cx="21924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AA7C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17"/>
          <p:cNvSpPr/>
          <p:nvPr/>
        </p:nvSpPr>
        <p:spPr>
          <a:xfrm>
            <a:off x="9436680" y="1371600"/>
            <a:ext cx="1965600" cy="1234080"/>
          </a:xfrm>
          <a:prstGeom prst="roundRect">
            <a:avLst>
              <a:gd name="adj" fmla="val 5926"/>
            </a:avLst>
          </a:prstGeom>
          <a:solidFill>
            <a:srgbClr val="121A2B"/>
          </a:solidFill>
          <a:ln w="19050">
            <a:solidFill>
              <a:srgbClr val="F0B4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8"/>
          <p:cNvSpPr/>
          <p:nvPr/>
        </p:nvSpPr>
        <p:spPr>
          <a:xfrm>
            <a:off x="9528120" y="1508760"/>
            <a:ext cx="1782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Tile-wise Zstd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9"/>
          <p:cNvSpPr/>
          <p:nvPr/>
        </p:nvSpPr>
        <p:spPr>
          <a:xfrm>
            <a:off x="9528120" y="1993320"/>
            <a:ext cx="1782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A7C2"/>
                </a:solidFill>
                <a:effectLst/>
                <a:uFillTx/>
                <a:latin typeface="Arial"/>
                <a:ea typeface="Arial"/>
              </a:rPr>
              <a:t>3 compressed streams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20"/>
          <p:cNvSpPr/>
          <p:nvPr/>
        </p:nvSpPr>
        <p:spPr>
          <a:xfrm>
            <a:off x="548640" y="301752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8EDF7"/>
                </a:solidFill>
                <a:effectLst/>
                <a:uFillTx/>
                <a:latin typeface="Arial"/>
                <a:ea typeface="Arial"/>
              </a:rPr>
              <a:t>Tile-wise Zstd splits into three independently compressed streams: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21"/>
          <p:cNvSpPr/>
          <p:nvPr/>
        </p:nvSpPr>
        <p:spPr>
          <a:xfrm>
            <a:off x="548640" y="3520440"/>
            <a:ext cx="3428640" cy="1462680"/>
          </a:xfrm>
          <a:prstGeom prst="roundRect">
            <a:avLst>
              <a:gd name="adj" fmla="val 5000"/>
            </a:avLst>
          </a:prstGeom>
          <a:solidFill>
            <a:srgbClr val="1823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22"/>
          <p:cNvSpPr/>
          <p:nvPr/>
        </p:nvSpPr>
        <p:spPr>
          <a:xfrm>
            <a:off x="713160" y="3684960"/>
            <a:ext cx="109440" cy="109440"/>
          </a:xfrm>
          <a:prstGeom prst="roundRect">
            <a:avLst>
              <a:gd name="adj" fmla="val 25000"/>
            </a:avLst>
          </a:prstGeom>
          <a:solidFill>
            <a:srgbClr val="7C9C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23"/>
          <p:cNvSpPr/>
          <p:nvPr/>
        </p:nvSpPr>
        <p:spPr>
          <a:xfrm>
            <a:off x="914400" y="361188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Attention weight tiles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24"/>
          <p:cNvSpPr/>
          <p:nvPr/>
        </p:nvSpPr>
        <p:spPr>
          <a:xfrm>
            <a:off x="731520" y="4087440"/>
            <a:ext cx="3062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9AA7C2"/>
                </a:solidFill>
                <a:effectLst/>
                <a:uFillTx/>
                <a:latin typeface="Arial"/>
                <a:ea typeface="Arial"/>
              </a:rPr>
              <a:t>Q / K / V / O projections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25"/>
          <p:cNvSpPr/>
          <p:nvPr/>
        </p:nvSpPr>
        <p:spPr>
          <a:xfrm>
            <a:off x="4251960" y="3520440"/>
            <a:ext cx="3428640" cy="1462680"/>
          </a:xfrm>
          <a:prstGeom prst="roundRect">
            <a:avLst>
              <a:gd name="adj" fmla="val 5000"/>
            </a:avLst>
          </a:prstGeom>
          <a:solidFill>
            <a:srgbClr val="1823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26"/>
          <p:cNvSpPr/>
          <p:nvPr/>
        </p:nvSpPr>
        <p:spPr>
          <a:xfrm>
            <a:off x="4416480" y="3684960"/>
            <a:ext cx="109440" cy="109440"/>
          </a:xfrm>
          <a:prstGeom prst="roundRect">
            <a:avLst>
              <a:gd name="adj" fmla="val 25000"/>
            </a:avLst>
          </a:prstGeom>
          <a:solidFill>
            <a:srgbClr val="7C9C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27"/>
          <p:cNvSpPr/>
          <p:nvPr/>
        </p:nvSpPr>
        <p:spPr>
          <a:xfrm>
            <a:off x="4617720" y="361188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FFN / MoE expert tiles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28"/>
          <p:cNvSpPr/>
          <p:nvPr/>
        </p:nvSpPr>
        <p:spPr>
          <a:xfrm>
            <a:off x="4434840" y="4087440"/>
            <a:ext cx="3062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9AA7C2"/>
                </a:solidFill>
                <a:effectLst/>
                <a:uFillTx/>
                <a:latin typeface="Arial"/>
                <a:ea typeface="Arial"/>
              </a:rPr>
              <a:t>gate, up, down projections (8-expert SMEAR)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29"/>
          <p:cNvSpPr/>
          <p:nvPr/>
        </p:nvSpPr>
        <p:spPr>
          <a:xfrm>
            <a:off x="7955280" y="3520440"/>
            <a:ext cx="3428640" cy="1462680"/>
          </a:xfrm>
          <a:prstGeom prst="roundRect">
            <a:avLst>
              <a:gd name="adj" fmla="val 5000"/>
            </a:avLst>
          </a:prstGeom>
          <a:solidFill>
            <a:srgbClr val="1823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30"/>
          <p:cNvSpPr/>
          <p:nvPr/>
        </p:nvSpPr>
        <p:spPr>
          <a:xfrm>
            <a:off x="8119800" y="3684960"/>
            <a:ext cx="109440" cy="109440"/>
          </a:xfrm>
          <a:prstGeom prst="roundRect">
            <a:avLst>
              <a:gd name="adj" fmla="val 25000"/>
            </a:avLst>
          </a:prstGeom>
          <a:solidFill>
            <a:srgbClr val="F0B4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31"/>
          <p:cNvSpPr/>
          <p:nvPr/>
        </p:nvSpPr>
        <p:spPr>
          <a:xfrm>
            <a:off x="8321040" y="361188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KV cache tiles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32"/>
          <p:cNvSpPr/>
          <p:nvPr/>
        </p:nvSpPr>
        <p:spPr>
          <a:xfrm>
            <a:off x="8138160" y="4087440"/>
            <a:ext cx="3062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9AA7C2"/>
                </a:solidFill>
                <a:effectLst/>
                <a:uFillTx/>
                <a:latin typeface="Arial"/>
                <a:ea typeface="Arial"/>
              </a:rPr>
              <a:t>generated at runtime — compressed dynamically, see next slides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33"/>
          <p:cNvSpPr/>
          <p:nvPr/>
        </p:nvSpPr>
        <p:spPr>
          <a:xfrm>
            <a:off x="548640" y="5257800"/>
            <a:ext cx="10881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AA7C2"/>
                </a:solidFill>
                <a:effectLst/>
                <a:uFillTx/>
                <a:latin typeface="Arial"/>
                <a:ea typeface="Arial"/>
              </a:rPr>
              <a:t>Why tile-wise, not model/layer/tensor-wise? Bounds SRAM working set to one tile, bounds decode latency so it hides behind compute, and lets the accelerator start consuming a tensor before it fully arrives from flash.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34"/>
          <p:cNvSpPr/>
          <p:nvPr/>
        </p:nvSpPr>
        <p:spPr>
          <a:xfrm>
            <a:off x="365760" y="653796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AA7C2"/>
                </a:solidFill>
                <a:effectLst/>
                <a:uFillTx/>
                <a:latin typeface="Arial"/>
                <a:ea typeface="Arial"/>
              </a:rPr>
              <a:t>Edge-LLM Codec  |  Software Pipeline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0"/>
          <p:cNvSpPr/>
          <p:nvPr/>
        </p:nvSpPr>
        <p:spPr>
          <a:xfrm>
            <a:off x="548640" y="41148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HARDWARE PIPELINE (THIS STAGE)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"/>
          <p:cNvSpPr/>
          <p:nvPr/>
        </p:nvSpPr>
        <p:spPr>
          <a:xfrm>
            <a:off x="548640" y="960120"/>
            <a:ext cx="10789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9AA7C2"/>
                </a:solidFill>
                <a:effectLst/>
                <a:uFillTx/>
                <a:latin typeface="Arial"/>
                <a:ea typeface="Arial"/>
              </a:rPr>
              <a:t>Two complementary accelerators close the loop between compressed storage and the compute array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2"/>
          <p:cNvSpPr/>
          <p:nvPr/>
        </p:nvSpPr>
        <p:spPr>
          <a:xfrm>
            <a:off x="548640" y="1554480"/>
            <a:ext cx="5120280" cy="4297320"/>
          </a:xfrm>
          <a:prstGeom prst="roundRect">
            <a:avLst>
              <a:gd name="adj" fmla="val 2128"/>
            </a:avLst>
          </a:prstGeom>
          <a:solidFill>
            <a:srgbClr val="121A2B"/>
          </a:solidFill>
          <a:ln w="19050">
            <a:solidFill>
              <a:srgbClr val="7C9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3"/>
          <p:cNvSpPr/>
          <p:nvPr/>
        </p:nvSpPr>
        <p:spPr>
          <a:xfrm>
            <a:off x="822960" y="178308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Decompression Accelerator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4"/>
          <p:cNvSpPr/>
          <p:nvPr/>
        </p:nvSpPr>
        <p:spPr>
          <a:xfrm>
            <a:off x="822960" y="221292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7C9CFF"/>
                </a:solidFill>
                <a:effectLst/>
                <a:uFillTx/>
                <a:latin typeface="Arial"/>
                <a:ea typeface="Arial"/>
              </a:rPr>
              <a:t>static weight tiles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5"/>
          <p:cNvSpPr/>
          <p:nvPr/>
        </p:nvSpPr>
        <p:spPr>
          <a:xfrm>
            <a:off x="822960" y="274320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99" strike="noStrike">
                <a:solidFill>
                  <a:srgbClr val="9AA7C2"/>
                </a:solidFill>
                <a:effectLst/>
                <a:uFillTx/>
                <a:latin typeface="Arial"/>
                <a:ea typeface="Arial"/>
              </a:rPr>
              <a:t>OPERATES 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6"/>
          <p:cNvSpPr/>
          <p:nvPr/>
        </p:nvSpPr>
        <p:spPr>
          <a:xfrm>
            <a:off x="822960" y="299916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DF7"/>
                </a:solidFill>
                <a:effectLst/>
                <a:uFillTx/>
                <a:latin typeface="Arial"/>
                <a:ea typeface="Arial"/>
              </a:rPr>
              <a:t>Attention + FFN/MoE weight tiles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7"/>
          <p:cNvSpPr/>
          <p:nvPr/>
        </p:nvSpPr>
        <p:spPr>
          <a:xfrm>
            <a:off x="822960" y="349308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99" strike="noStrike">
                <a:solidFill>
                  <a:srgbClr val="9AA7C2"/>
                </a:solidFill>
                <a:effectLst/>
                <a:uFillTx/>
                <a:latin typeface="Arial"/>
                <a:ea typeface="Arial"/>
              </a:rPr>
              <a:t>DIRECTION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8"/>
          <p:cNvSpPr/>
          <p:nvPr/>
        </p:nvSpPr>
        <p:spPr>
          <a:xfrm>
            <a:off x="822960" y="374904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DF7"/>
                </a:solidFill>
                <a:effectLst/>
                <a:uFillTx/>
                <a:latin typeface="Arial"/>
                <a:ea typeface="Arial"/>
              </a:rPr>
              <a:t>Flash/DRAM → SRAM → MAC array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9"/>
          <p:cNvSpPr/>
          <p:nvPr/>
        </p:nvSpPr>
        <p:spPr>
          <a:xfrm>
            <a:off x="822960" y="424296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99" strike="noStrike">
                <a:solidFill>
                  <a:srgbClr val="9AA7C2"/>
                </a:solidFill>
                <a:effectLst/>
                <a:uFillTx/>
                <a:latin typeface="Arial"/>
                <a:ea typeface="Arial"/>
              </a:rPr>
              <a:t>TIMING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0"/>
          <p:cNvSpPr/>
          <p:nvPr/>
        </p:nvSpPr>
        <p:spPr>
          <a:xfrm>
            <a:off x="822960" y="449892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DF7"/>
                </a:solidFill>
                <a:effectLst/>
                <a:uFillTx/>
                <a:latin typeface="Arial"/>
                <a:ea typeface="Arial"/>
              </a:rPr>
              <a:t>Prefetch-driven, pipelined ahead of compute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1"/>
          <p:cNvSpPr/>
          <p:nvPr/>
        </p:nvSpPr>
        <p:spPr>
          <a:xfrm>
            <a:off x="822960" y="499248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99" strike="noStrike">
                <a:solidFill>
                  <a:srgbClr val="9AA7C2"/>
                </a:solidFill>
                <a:effectLst/>
                <a:uFillTx/>
                <a:latin typeface="Arial"/>
                <a:ea typeface="Arial"/>
              </a:rPr>
              <a:t>CODEC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2"/>
          <p:cNvSpPr/>
          <p:nvPr/>
        </p:nvSpPr>
        <p:spPr>
          <a:xfrm>
            <a:off x="822960" y="524880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DF7"/>
                </a:solidFill>
                <a:effectLst/>
                <a:uFillTx/>
                <a:latin typeface="Arial"/>
                <a:ea typeface="Arial"/>
              </a:rPr>
              <a:t>Tile-wise Zstd: tANS/FSE entropy + LZ77 match stage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13"/>
          <p:cNvSpPr/>
          <p:nvPr/>
        </p:nvSpPr>
        <p:spPr>
          <a:xfrm>
            <a:off x="6126480" y="1554480"/>
            <a:ext cx="5120280" cy="4297320"/>
          </a:xfrm>
          <a:prstGeom prst="roundRect">
            <a:avLst>
              <a:gd name="adj" fmla="val 2128"/>
            </a:avLst>
          </a:prstGeom>
          <a:solidFill>
            <a:srgbClr val="121A2B"/>
          </a:solidFill>
          <a:ln w="19050">
            <a:solidFill>
              <a:srgbClr val="F0B4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4"/>
          <p:cNvSpPr/>
          <p:nvPr/>
        </p:nvSpPr>
        <p:spPr>
          <a:xfrm>
            <a:off x="6400800" y="178308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Compression Accelerator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5"/>
          <p:cNvSpPr/>
          <p:nvPr/>
        </p:nvSpPr>
        <p:spPr>
          <a:xfrm>
            <a:off x="6400800" y="221292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0B429"/>
                </a:solidFill>
                <a:effectLst/>
                <a:uFillTx/>
                <a:latin typeface="Arial"/>
                <a:ea typeface="Arial"/>
              </a:rPr>
              <a:t>dynamic KV cache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6"/>
          <p:cNvSpPr/>
          <p:nvPr/>
        </p:nvSpPr>
        <p:spPr>
          <a:xfrm>
            <a:off x="6400800" y="274320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99" strike="noStrike">
                <a:solidFill>
                  <a:srgbClr val="9AA7C2"/>
                </a:solidFill>
                <a:effectLst/>
                <a:uFillTx/>
                <a:latin typeface="Arial"/>
                <a:ea typeface="Arial"/>
              </a:rPr>
              <a:t>OPERATES 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7"/>
          <p:cNvSpPr/>
          <p:nvPr/>
        </p:nvSpPr>
        <p:spPr>
          <a:xfrm>
            <a:off x="6400800" y="299916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DF7"/>
                </a:solidFill>
                <a:effectLst/>
                <a:uFillTx/>
                <a:latin typeface="Arial"/>
                <a:ea typeface="Arial"/>
              </a:rPr>
              <a:t>KV cache tiles (K, V per token per layer)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8"/>
          <p:cNvSpPr/>
          <p:nvPr/>
        </p:nvSpPr>
        <p:spPr>
          <a:xfrm>
            <a:off x="6400800" y="349308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99" strike="noStrike">
                <a:solidFill>
                  <a:srgbClr val="9AA7C2"/>
                </a:solidFill>
                <a:effectLst/>
                <a:uFillTx/>
                <a:latin typeface="Arial"/>
                <a:ea typeface="Arial"/>
              </a:rPr>
              <a:t>DIRECTION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9"/>
          <p:cNvSpPr/>
          <p:nvPr/>
        </p:nvSpPr>
        <p:spPr>
          <a:xfrm>
            <a:off x="6400800" y="374904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DF7"/>
                </a:solidFill>
                <a:effectLst/>
                <a:uFillTx/>
                <a:latin typeface="Arial"/>
                <a:ea typeface="Arial"/>
              </a:rPr>
              <a:t>Attention output → DRAM, and back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20"/>
          <p:cNvSpPr/>
          <p:nvPr/>
        </p:nvSpPr>
        <p:spPr>
          <a:xfrm>
            <a:off x="6400800" y="424296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99" strike="noStrike">
                <a:solidFill>
                  <a:srgbClr val="9AA7C2"/>
                </a:solidFill>
                <a:effectLst/>
                <a:uFillTx/>
                <a:latin typeface="Arial"/>
                <a:ea typeface="Arial"/>
              </a:rPr>
              <a:t>TIMING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21"/>
          <p:cNvSpPr/>
          <p:nvPr/>
        </p:nvSpPr>
        <p:spPr>
          <a:xfrm>
            <a:off x="6400800" y="449892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DF7"/>
                </a:solidFill>
                <a:effectLst/>
                <a:uFillTx/>
                <a:latin typeface="Arial"/>
                <a:ea typeface="Arial"/>
              </a:rPr>
              <a:t>Must keep up with per-token decode latency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22"/>
          <p:cNvSpPr/>
          <p:nvPr/>
        </p:nvSpPr>
        <p:spPr>
          <a:xfrm>
            <a:off x="6400800" y="499248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99" strike="noStrike">
                <a:solidFill>
                  <a:srgbClr val="9AA7C2"/>
                </a:solidFill>
                <a:effectLst/>
                <a:uFillTx/>
                <a:latin typeface="Arial"/>
                <a:ea typeface="Arial"/>
              </a:rPr>
              <a:t>CODEC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23"/>
          <p:cNvSpPr/>
          <p:nvPr/>
        </p:nvSpPr>
        <p:spPr>
          <a:xfrm>
            <a:off x="6400800" y="524880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DF7"/>
                </a:solidFill>
                <a:effectLst/>
                <a:uFillTx/>
                <a:latin typeface="Arial"/>
                <a:ea typeface="Arial"/>
              </a:rPr>
              <a:t>Same KV-cache Zstd library, run in reverse (encode)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24"/>
          <p:cNvSpPr/>
          <p:nvPr/>
        </p:nvSpPr>
        <p:spPr>
          <a:xfrm>
            <a:off x="548640" y="5989320"/>
            <a:ext cx="10881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AA7C2"/>
                </a:solidFill>
                <a:effectLst/>
                <a:uFillTx/>
                <a:latin typeface="Arial"/>
                <a:ea typeface="Arial"/>
              </a:rPr>
              <a:t>Both accelerators share a common decode-side core (tANS/FSE decode, match reconstruction, AXI-style DMA, double-buffered tile scheduler) — the KV-cache path only adds a forward encode datapath on top.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25"/>
          <p:cNvSpPr/>
          <p:nvPr/>
        </p:nvSpPr>
        <p:spPr>
          <a:xfrm>
            <a:off x="365760" y="653796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AA7C2"/>
                </a:solidFill>
                <a:effectLst/>
                <a:uFillTx/>
                <a:latin typeface="Arial"/>
                <a:ea typeface="Arial"/>
              </a:rPr>
              <a:t>Edge-LLM Codec  |  Hardware Overview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 0"/>
          <p:cNvSpPr/>
          <p:nvPr/>
        </p:nvSpPr>
        <p:spPr>
          <a:xfrm>
            <a:off x="548640" y="365760"/>
            <a:ext cx="9143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DECOMPRESSION ACCELERATOR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"/>
          <p:cNvSpPr/>
          <p:nvPr/>
        </p:nvSpPr>
        <p:spPr>
          <a:xfrm>
            <a:off x="548640" y="841320"/>
            <a:ext cx="10789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9AA7C2"/>
                </a:solidFill>
                <a:effectLst/>
                <a:uFillTx/>
                <a:latin typeface="Arial"/>
                <a:ea typeface="Arial"/>
              </a:rPr>
              <a:t>Real-time weight-tile reconstruction — flash/DRAM to MAC array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2"/>
          <p:cNvSpPr/>
          <p:nvPr/>
        </p:nvSpPr>
        <p:spPr>
          <a:xfrm>
            <a:off x="548640" y="1508760"/>
            <a:ext cx="1919880" cy="1371240"/>
          </a:xfrm>
          <a:prstGeom prst="roundRect">
            <a:avLst>
              <a:gd name="adj" fmla="val 5333"/>
            </a:avLst>
          </a:prstGeom>
          <a:solidFill>
            <a:srgbClr val="121A2B"/>
          </a:solidFill>
          <a:ln w="16510">
            <a:solidFill>
              <a:srgbClr val="7C9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3"/>
          <p:cNvSpPr/>
          <p:nvPr/>
        </p:nvSpPr>
        <p:spPr>
          <a:xfrm>
            <a:off x="640080" y="1645920"/>
            <a:ext cx="17370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Tile Fetch / DMA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+ Scheduler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4"/>
          <p:cNvSpPr/>
          <p:nvPr/>
        </p:nvSpPr>
        <p:spPr>
          <a:xfrm>
            <a:off x="2487240" y="2103120"/>
            <a:ext cx="219240" cy="182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D1C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5"/>
          <p:cNvSpPr/>
          <p:nvPr/>
        </p:nvSpPr>
        <p:spPr>
          <a:xfrm>
            <a:off x="2724840" y="1508760"/>
            <a:ext cx="1919880" cy="1371240"/>
          </a:xfrm>
          <a:prstGeom prst="roundRect">
            <a:avLst>
              <a:gd name="adj" fmla="val 5333"/>
            </a:avLst>
          </a:prstGeom>
          <a:solidFill>
            <a:srgbClr val="121A2B"/>
          </a:solidFill>
          <a:ln w="16510">
            <a:solidFill>
              <a:srgbClr val="7C9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6"/>
          <p:cNvSpPr/>
          <p:nvPr/>
        </p:nvSpPr>
        <p:spPr>
          <a:xfrm>
            <a:off x="2816280" y="1645920"/>
            <a:ext cx="17370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Sequence Decoder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(LZ77 stage)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7"/>
          <p:cNvSpPr/>
          <p:nvPr/>
        </p:nvSpPr>
        <p:spPr>
          <a:xfrm>
            <a:off x="4663440" y="2103120"/>
            <a:ext cx="219240" cy="182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D1C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8"/>
          <p:cNvSpPr/>
          <p:nvPr/>
        </p:nvSpPr>
        <p:spPr>
          <a:xfrm>
            <a:off x="4901040" y="1508760"/>
            <a:ext cx="1919880" cy="1371240"/>
          </a:xfrm>
          <a:prstGeom prst="roundRect">
            <a:avLst>
              <a:gd name="adj" fmla="val 5333"/>
            </a:avLst>
          </a:prstGeom>
          <a:solidFill>
            <a:srgbClr val="121A2B"/>
          </a:solidFill>
          <a:ln w="16510">
            <a:solidFill>
              <a:srgbClr val="7C9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9"/>
          <p:cNvSpPr/>
          <p:nvPr/>
        </p:nvSpPr>
        <p:spPr>
          <a:xfrm>
            <a:off x="4992480" y="1645920"/>
            <a:ext cx="17370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Entropy Decode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(FSE / tANS core)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10"/>
          <p:cNvSpPr/>
          <p:nvPr/>
        </p:nvSpPr>
        <p:spPr>
          <a:xfrm>
            <a:off x="6839640" y="2103120"/>
            <a:ext cx="219240" cy="182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D1C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11"/>
          <p:cNvSpPr/>
          <p:nvPr/>
        </p:nvSpPr>
        <p:spPr>
          <a:xfrm>
            <a:off x="7077600" y="1508760"/>
            <a:ext cx="1919880" cy="1371240"/>
          </a:xfrm>
          <a:prstGeom prst="roundRect">
            <a:avLst>
              <a:gd name="adj" fmla="val 5333"/>
            </a:avLst>
          </a:prstGeom>
          <a:solidFill>
            <a:srgbClr val="121A2B"/>
          </a:solidFill>
          <a:ln w="16510">
            <a:solidFill>
              <a:srgbClr val="7C9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2"/>
          <p:cNvSpPr/>
          <p:nvPr/>
        </p:nvSpPr>
        <p:spPr>
          <a:xfrm>
            <a:off x="7169040" y="1645920"/>
            <a:ext cx="17370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Dequant / Format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Reconstruction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13"/>
          <p:cNvSpPr/>
          <p:nvPr/>
        </p:nvSpPr>
        <p:spPr>
          <a:xfrm>
            <a:off x="9015840" y="2103120"/>
            <a:ext cx="219240" cy="182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D1C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14"/>
          <p:cNvSpPr/>
          <p:nvPr/>
        </p:nvSpPr>
        <p:spPr>
          <a:xfrm>
            <a:off x="9253800" y="1508760"/>
            <a:ext cx="1919880" cy="1371240"/>
          </a:xfrm>
          <a:prstGeom prst="roundRect">
            <a:avLst>
              <a:gd name="adj" fmla="val 5333"/>
            </a:avLst>
          </a:prstGeom>
          <a:solidFill>
            <a:srgbClr val="121A2B"/>
          </a:solidFill>
          <a:ln w="16510">
            <a:solidFill>
              <a:srgbClr val="7C9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5"/>
          <p:cNvSpPr/>
          <p:nvPr/>
        </p:nvSpPr>
        <p:spPr>
          <a:xfrm>
            <a:off x="9345240" y="1645920"/>
            <a:ext cx="17370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Double-Buffered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Output SRAM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6"/>
          <p:cNvSpPr/>
          <p:nvPr/>
        </p:nvSpPr>
        <p:spPr>
          <a:xfrm>
            <a:off x="548640" y="1124640"/>
            <a:ext cx="1919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AA7C2"/>
                </a:solidFill>
                <a:effectLst/>
                <a:uFillTx/>
                <a:latin typeface="Arial"/>
                <a:ea typeface="Arial"/>
              </a:rPr>
              <a:t>Flash / DRAM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7"/>
          <p:cNvSpPr/>
          <p:nvPr/>
        </p:nvSpPr>
        <p:spPr>
          <a:xfrm>
            <a:off x="9253800" y="2971800"/>
            <a:ext cx="2285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FD1C5"/>
                </a:solidFill>
                <a:effectLst/>
                <a:uFillTx/>
                <a:latin typeface="Arial"/>
                <a:ea typeface="Arial"/>
              </a:rPr>
              <a:t>MAC Array (Shrutam-2 / Sooktam)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8"/>
          <p:cNvSpPr/>
          <p:nvPr/>
        </p:nvSpPr>
        <p:spPr>
          <a:xfrm>
            <a:off x="548640" y="3291840"/>
            <a:ext cx="10881000" cy="26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343080" indent="-343080" defTabSz="914400">
              <a:lnSpc>
                <a:spcPct val="120000"/>
              </a:lnSpc>
              <a:spcAft>
                <a:spcPts val="799"/>
              </a:spcAft>
              <a:buClr>
                <a:srgbClr val="E8EDF7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E8EDF7"/>
                </a:solidFill>
                <a:effectLst/>
                <a:uFillTx/>
                <a:latin typeface="Arial"/>
                <a:ea typeface="Arial"/>
              </a:rPr>
              <a:t>Tile granularity co-designed with compression-ratio-vs-latency analysis — small enough to decode within one MAC pass, large enough to amortize header overhead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20000"/>
              </a:lnSpc>
              <a:spcAft>
                <a:spcPts val="799"/>
              </a:spcAft>
              <a:buClr>
                <a:srgbClr val="E8EDF7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E8EDF7"/>
                </a:solidFill>
                <a:effectLst/>
                <a:uFillTx/>
                <a:latin typeface="Arial"/>
                <a:ea typeface="Arial"/>
              </a:rPr>
              <a:t>Entropy decode is variable-rate: output FIFO or wide multi-symbol lookup absorbs the “bubble cycle” problem seen in Huffman/ANS hardware decoders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20000"/>
              </a:lnSpc>
              <a:spcAft>
                <a:spcPts val="799"/>
              </a:spcAft>
              <a:buClr>
                <a:srgbClr val="E8EDF7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E8EDF7"/>
                </a:solidFill>
                <a:effectLst/>
                <a:uFillTx/>
                <a:latin typeface="Arial"/>
                <a:ea typeface="Arial"/>
              </a:rPr>
              <a:t>MoE-aware prefetch: only decompress tiles for routed experts (8-expert SMEAR FFN), not the full weight set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20000"/>
              </a:lnSpc>
              <a:spcAft>
                <a:spcPts val="799"/>
              </a:spcAft>
              <a:buClr>
                <a:srgbClr val="E8EDF7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E8EDF7"/>
                </a:solidFill>
                <a:effectLst/>
                <a:uFillTx/>
                <a:latin typeface="Arial"/>
                <a:ea typeface="Arial"/>
              </a:rPr>
              <a:t>Reuses the tANS decode core, AXI DMA, and double-buffer scheduler from the prior general-purpose Zstd accelerator design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9"/>
          <p:cNvSpPr/>
          <p:nvPr/>
        </p:nvSpPr>
        <p:spPr>
          <a:xfrm>
            <a:off x="365760" y="653796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AA7C2"/>
                </a:solidFill>
                <a:effectLst/>
                <a:uFillTx/>
                <a:latin typeface="Arial"/>
                <a:ea typeface="Arial"/>
              </a:rPr>
              <a:t>Edge-LLM Codec  |  Decompression Accelerator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 0"/>
          <p:cNvSpPr/>
          <p:nvPr/>
        </p:nvSpPr>
        <p:spPr>
          <a:xfrm>
            <a:off x="548640" y="365760"/>
            <a:ext cx="9143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COMPRESSION ACCELERATOR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"/>
          <p:cNvSpPr/>
          <p:nvPr/>
        </p:nvSpPr>
        <p:spPr>
          <a:xfrm>
            <a:off x="548640" y="841320"/>
            <a:ext cx="10789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9AA7C2"/>
                </a:solidFill>
                <a:effectLst/>
                <a:uFillTx/>
                <a:latin typeface="Arial"/>
                <a:ea typeface="Arial"/>
              </a:rPr>
              <a:t>Real-time KV-cache compression — the dynamic half of the codec, in the per-token critical path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2"/>
          <p:cNvSpPr/>
          <p:nvPr/>
        </p:nvSpPr>
        <p:spPr>
          <a:xfrm>
            <a:off x="548640" y="13716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99" strike="noStrike">
                <a:solidFill>
                  <a:srgbClr val="F0B429"/>
                </a:solidFill>
                <a:effectLst/>
                <a:uFillTx/>
                <a:latin typeface="Arial"/>
                <a:ea typeface="Arial"/>
              </a:rPr>
              <a:t>WRITE PATH  (compress new K/V)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3"/>
          <p:cNvSpPr/>
          <p:nvPr/>
        </p:nvSpPr>
        <p:spPr>
          <a:xfrm>
            <a:off x="548640" y="1691640"/>
            <a:ext cx="2011320" cy="1142640"/>
          </a:xfrm>
          <a:prstGeom prst="roundRect">
            <a:avLst>
              <a:gd name="adj" fmla="val 5600"/>
            </a:avLst>
          </a:prstGeom>
          <a:solidFill>
            <a:srgbClr val="121A2B"/>
          </a:solidFill>
          <a:ln w="15240">
            <a:solidFill>
              <a:srgbClr val="F0B4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4"/>
          <p:cNvSpPr/>
          <p:nvPr/>
        </p:nvSpPr>
        <p:spPr>
          <a:xfrm>
            <a:off x="621720" y="1783080"/>
            <a:ext cx="18651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Tile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Accumulator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5"/>
          <p:cNvSpPr/>
          <p:nvPr/>
        </p:nvSpPr>
        <p:spPr>
          <a:xfrm>
            <a:off x="2569320" y="2180880"/>
            <a:ext cx="145800" cy="164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0B4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7080" rIns="90000" bIns="37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6"/>
          <p:cNvSpPr/>
          <p:nvPr/>
        </p:nvSpPr>
        <p:spPr>
          <a:xfrm>
            <a:off x="2724840" y="1691640"/>
            <a:ext cx="2011320" cy="1142640"/>
          </a:xfrm>
          <a:prstGeom prst="roundRect">
            <a:avLst>
              <a:gd name="adj" fmla="val 5600"/>
            </a:avLst>
          </a:prstGeom>
          <a:solidFill>
            <a:srgbClr val="121A2B"/>
          </a:solidFill>
          <a:ln w="15240">
            <a:solidFill>
              <a:srgbClr val="F0B4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7"/>
          <p:cNvSpPr/>
          <p:nvPr/>
        </p:nvSpPr>
        <p:spPr>
          <a:xfrm>
            <a:off x="2797920" y="1783080"/>
            <a:ext cx="18651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Quantize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(K: per-ch / V: per-tok)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8"/>
          <p:cNvSpPr/>
          <p:nvPr/>
        </p:nvSpPr>
        <p:spPr>
          <a:xfrm>
            <a:off x="4745880" y="2180880"/>
            <a:ext cx="145800" cy="164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0B4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7080" rIns="90000" bIns="37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9"/>
          <p:cNvSpPr/>
          <p:nvPr/>
        </p:nvSpPr>
        <p:spPr>
          <a:xfrm>
            <a:off x="4901040" y="1691640"/>
            <a:ext cx="2011320" cy="1142640"/>
          </a:xfrm>
          <a:prstGeom prst="roundRect">
            <a:avLst>
              <a:gd name="adj" fmla="val 5600"/>
            </a:avLst>
          </a:prstGeom>
          <a:solidFill>
            <a:srgbClr val="121A2B"/>
          </a:solidFill>
          <a:ln w="15240">
            <a:solidFill>
              <a:srgbClr val="F0B4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0"/>
          <p:cNvSpPr/>
          <p:nvPr/>
        </p:nvSpPr>
        <p:spPr>
          <a:xfrm>
            <a:off x="4974480" y="1783080"/>
            <a:ext cx="18651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Match Finder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(small window)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11"/>
          <p:cNvSpPr/>
          <p:nvPr/>
        </p:nvSpPr>
        <p:spPr>
          <a:xfrm>
            <a:off x="6922080" y="2180880"/>
            <a:ext cx="145800" cy="164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0B4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7080" rIns="90000" bIns="37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12"/>
          <p:cNvSpPr/>
          <p:nvPr/>
        </p:nvSpPr>
        <p:spPr>
          <a:xfrm>
            <a:off x="7077600" y="1691640"/>
            <a:ext cx="2011320" cy="1142640"/>
          </a:xfrm>
          <a:prstGeom prst="roundRect">
            <a:avLst>
              <a:gd name="adj" fmla="val 5600"/>
            </a:avLst>
          </a:prstGeom>
          <a:solidFill>
            <a:srgbClr val="121A2B"/>
          </a:solidFill>
          <a:ln w="15240">
            <a:solidFill>
              <a:srgbClr val="F0B4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3"/>
          <p:cNvSpPr/>
          <p:nvPr/>
        </p:nvSpPr>
        <p:spPr>
          <a:xfrm>
            <a:off x="7150680" y="1783080"/>
            <a:ext cx="18651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FSE/tANS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Table Build + Encode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4"/>
          <p:cNvSpPr/>
          <p:nvPr/>
        </p:nvSpPr>
        <p:spPr>
          <a:xfrm>
            <a:off x="9098280" y="2180880"/>
            <a:ext cx="145800" cy="164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0B4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7080" rIns="90000" bIns="37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15"/>
          <p:cNvSpPr/>
          <p:nvPr/>
        </p:nvSpPr>
        <p:spPr>
          <a:xfrm>
            <a:off x="9253800" y="1691640"/>
            <a:ext cx="2011320" cy="1142640"/>
          </a:xfrm>
          <a:prstGeom prst="roundRect">
            <a:avLst>
              <a:gd name="adj" fmla="val 5600"/>
            </a:avLst>
          </a:prstGeom>
          <a:solidFill>
            <a:srgbClr val="121A2B"/>
          </a:solidFill>
          <a:ln w="15240">
            <a:solidFill>
              <a:srgbClr val="F0B4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6"/>
          <p:cNvSpPr/>
          <p:nvPr/>
        </p:nvSpPr>
        <p:spPr>
          <a:xfrm>
            <a:off x="9326880" y="1783080"/>
            <a:ext cx="18651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Writeback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to DRAM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7"/>
          <p:cNvSpPr/>
          <p:nvPr/>
        </p:nvSpPr>
        <p:spPr>
          <a:xfrm>
            <a:off x="548640" y="31089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99" strike="noStrike">
                <a:solidFill>
                  <a:srgbClr val="7C9CFF"/>
                </a:solidFill>
                <a:effectLst/>
                <a:uFillTx/>
                <a:latin typeface="Arial"/>
                <a:ea typeface="Arial"/>
              </a:rPr>
              <a:t>READ PATH  (decompress for attention — reuses decompression core)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18"/>
          <p:cNvSpPr/>
          <p:nvPr/>
        </p:nvSpPr>
        <p:spPr>
          <a:xfrm>
            <a:off x="548640" y="3429000"/>
            <a:ext cx="2011320" cy="1142640"/>
          </a:xfrm>
          <a:prstGeom prst="roundRect">
            <a:avLst>
              <a:gd name="adj" fmla="val 5600"/>
            </a:avLst>
          </a:prstGeom>
          <a:solidFill>
            <a:srgbClr val="121A2B"/>
          </a:solidFill>
          <a:ln w="15240">
            <a:solidFill>
              <a:srgbClr val="7C9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9"/>
          <p:cNvSpPr/>
          <p:nvPr/>
        </p:nvSpPr>
        <p:spPr>
          <a:xfrm>
            <a:off x="621720" y="3520440"/>
            <a:ext cx="18651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Tile Fetch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/ DMA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20"/>
          <p:cNvSpPr/>
          <p:nvPr/>
        </p:nvSpPr>
        <p:spPr>
          <a:xfrm>
            <a:off x="2569320" y="3918240"/>
            <a:ext cx="145800" cy="164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C9C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7080" rIns="90000" bIns="37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21"/>
          <p:cNvSpPr/>
          <p:nvPr/>
        </p:nvSpPr>
        <p:spPr>
          <a:xfrm>
            <a:off x="2724840" y="3429000"/>
            <a:ext cx="2011320" cy="1142640"/>
          </a:xfrm>
          <a:prstGeom prst="roundRect">
            <a:avLst>
              <a:gd name="adj" fmla="val 5600"/>
            </a:avLst>
          </a:prstGeom>
          <a:solidFill>
            <a:srgbClr val="121A2B"/>
          </a:solidFill>
          <a:ln w="15240">
            <a:solidFill>
              <a:srgbClr val="7C9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2"/>
          <p:cNvSpPr/>
          <p:nvPr/>
        </p:nvSpPr>
        <p:spPr>
          <a:xfrm>
            <a:off x="2797920" y="3520440"/>
            <a:ext cx="18651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Sequence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Decoder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23"/>
          <p:cNvSpPr/>
          <p:nvPr/>
        </p:nvSpPr>
        <p:spPr>
          <a:xfrm>
            <a:off x="4745880" y="3918240"/>
            <a:ext cx="145800" cy="164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C9C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7080" rIns="90000" bIns="37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24"/>
          <p:cNvSpPr/>
          <p:nvPr/>
        </p:nvSpPr>
        <p:spPr>
          <a:xfrm>
            <a:off x="4901040" y="3429000"/>
            <a:ext cx="2011320" cy="1142640"/>
          </a:xfrm>
          <a:prstGeom prst="roundRect">
            <a:avLst>
              <a:gd name="adj" fmla="val 5600"/>
            </a:avLst>
          </a:prstGeom>
          <a:solidFill>
            <a:srgbClr val="121A2B"/>
          </a:solidFill>
          <a:ln w="15240">
            <a:solidFill>
              <a:srgbClr val="7C9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25"/>
          <p:cNvSpPr/>
          <p:nvPr/>
        </p:nvSpPr>
        <p:spPr>
          <a:xfrm>
            <a:off x="4974480" y="3520440"/>
            <a:ext cx="18651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FSE/tANS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Decode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26"/>
          <p:cNvSpPr/>
          <p:nvPr/>
        </p:nvSpPr>
        <p:spPr>
          <a:xfrm>
            <a:off x="6922080" y="3918240"/>
            <a:ext cx="145800" cy="164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C9C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7080" rIns="90000" bIns="37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27"/>
          <p:cNvSpPr/>
          <p:nvPr/>
        </p:nvSpPr>
        <p:spPr>
          <a:xfrm>
            <a:off x="7077600" y="3429000"/>
            <a:ext cx="2011320" cy="1142640"/>
          </a:xfrm>
          <a:prstGeom prst="roundRect">
            <a:avLst>
              <a:gd name="adj" fmla="val 5600"/>
            </a:avLst>
          </a:prstGeom>
          <a:solidFill>
            <a:srgbClr val="121A2B"/>
          </a:solidFill>
          <a:ln w="15240">
            <a:solidFill>
              <a:srgbClr val="7C9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28"/>
          <p:cNvSpPr/>
          <p:nvPr/>
        </p:nvSpPr>
        <p:spPr>
          <a:xfrm>
            <a:off x="7150680" y="3520440"/>
            <a:ext cx="18651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Dequant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(K per-ch / V per-tok)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29"/>
          <p:cNvSpPr/>
          <p:nvPr/>
        </p:nvSpPr>
        <p:spPr>
          <a:xfrm>
            <a:off x="9098280" y="3918240"/>
            <a:ext cx="145800" cy="164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C9C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7080" rIns="90000" bIns="37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30"/>
          <p:cNvSpPr/>
          <p:nvPr/>
        </p:nvSpPr>
        <p:spPr>
          <a:xfrm>
            <a:off x="9253800" y="3429000"/>
            <a:ext cx="2011320" cy="1142640"/>
          </a:xfrm>
          <a:prstGeom prst="roundRect">
            <a:avLst>
              <a:gd name="adj" fmla="val 5600"/>
            </a:avLst>
          </a:prstGeom>
          <a:solidFill>
            <a:srgbClr val="121A2B"/>
          </a:solidFill>
          <a:ln w="15240">
            <a:solidFill>
              <a:srgbClr val="7C9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31"/>
          <p:cNvSpPr/>
          <p:nvPr/>
        </p:nvSpPr>
        <p:spPr>
          <a:xfrm>
            <a:off x="9326880" y="3520440"/>
            <a:ext cx="18651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Attention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Unit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32"/>
          <p:cNvSpPr/>
          <p:nvPr/>
        </p:nvSpPr>
        <p:spPr>
          <a:xfrm>
            <a:off x="548640" y="4800600"/>
            <a:ext cx="1088100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343080" indent="-343080" defTabSz="914400">
              <a:lnSpc>
                <a:spcPct val="115000"/>
              </a:lnSpc>
              <a:spcAft>
                <a:spcPts val="601"/>
              </a:spcAft>
              <a:buClr>
                <a:srgbClr val="E8EDF7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E8EDF7"/>
                </a:solidFill>
                <a:effectLst/>
                <a:uFillTx/>
                <a:latin typeface="Arial"/>
                <a:ea typeface="Arial"/>
              </a:rPr>
              <a:t>Latency budget is per-token, not per-tile-fetch — unlike weight decompression, there is no long prefetch window to hide behind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spcAft>
                <a:spcPts val="601"/>
              </a:spcAft>
              <a:buClr>
                <a:srgbClr val="E8EDF7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E8EDF7"/>
                </a:solidFill>
                <a:effectLst/>
                <a:uFillTx/>
                <a:latin typeface="Arial"/>
                <a:ea typeface="Arial"/>
              </a:rPr>
              <a:t>Open question: adaptive / precomputed FSE tables vs. per-tile table build, to bound encode latency at decode token rate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spcAft>
                <a:spcPts val="601"/>
              </a:spcAft>
              <a:buClr>
                <a:srgbClr val="E8EDF7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E8EDF7"/>
                </a:solidFill>
                <a:effectLst/>
                <a:uFillTx/>
                <a:latin typeface="Arial"/>
                <a:ea typeface="Arial"/>
              </a:rPr>
              <a:t>K and V are quantized asymmetrically (per-channel / per-token) — matches the offline KV-cache library for bit-exact compatibility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33"/>
          <p:cNvSpPr/>
          <p:nvPr/>
        </p:nvSpPr>
        <p:spPr>
          <a:xfrm>
            <a:off x="365760" y="653796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AA7C2"/>
                </a:solidFill>
                <a:effectLst/>
                <a:uFillTx/>
                <a:latin typeface="Arial"/>
                <a:ea typeface="Arial"/>
              </a:rPr>
              <a:t>Edge-LLM Codec  |  Compression Accelerator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ext 0"/>
          <p:cNvSpPr/>
          <p:nvPr/>
        </p:nvSpPr>
        <p:spPr>
          <a:xfrm>
            <a:off x="548640" y="41148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TARGET PLATFORMS &amp; STATUS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1"/>
          <p:cNvSpPr/>
          <p:nvPr/>
        </p:nvSpPr>
        <p:spPr>
          <a:xfrm>
            <a:off x="548640" y="1143000"/>
            <a:ext cx="5120280" cy="1737000"/>
          </a:xfrm>
          <a:prstGeom prst="roundRect">
            <a:avLst>
              <a:gd name="adj" fmla="val 4737"/>
            </a:avLst>
          </a:prstGeom>
          <a:solidFill>
            <a:srgbClr val="121A2B"/>
          </a:solidFill>
          <a:ln w="17780">
            <a:solidFill>
              <a:srgbClr val="7C9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2"/>
          <p:cNvSpPr/>
          <p:nvPr/>
        </p:nvSpPr>
        <p:spPr>
          <a:xfrm>
            <a:off x="777240" y="1307520"/>
            <a:ext cx="466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Shrutam-2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3"/>
          <p:cNvSpPr/>
          <p:nvPr/>
        </p:nvSpPr>
        <p:spPr>
          <a:xfrm>
            <a:off x="777240" y="1737360"/>
            <a:ext cx="46630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AA7C2"/>
                </a:solidFill>
                <a:effectLst/>
                <a:uFillTx/>
                <a:latin typeface="Arial"/>
                <a:ea typeface="Arial"/>
              </a:rPr>
              <a:t>Conformer encoder + Llama-architecture decoder, 8-expert SMEAR MoE FFN, structured 2:4 sparsity, INT8-normalized mixed-precision MAC arrays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4"/>
          <p:cNvSpPr/>
          <p:nvPr/>
        </p:nvSpPr>
        <p:spPr>
          <a:xfrm>
            <a:off x="6126480" y="1143000"/>
            <a:ext cx="5120280" cy="1737000"/>
          </a:xfrm>
          <a:prstGeom prst="roundRect">
            <a:avLst>
              <a:gd name="adj" fmla="val 4737"/>
            </a:avLst>
          </a:prstGeom>
          <a:solidFill>
            <a:srgbClr val="121A2B"/>
          </a:solidFill>
          <a:ln w="17780">
            <a:solidFill>
              <a:srgbClr val="F0B4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5"/>
          <p:cNvSpPr/>
          <p:nvPr/>
        </p:nvSpPr>
        <p:spPr>
          <a:xfrm>
            <a:off x="6355080" y="1307520"/>
            <a:ext cx="466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Sooktam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6"/>
          <p:cNvSpPr/>
          <p:nvPr/>
        </p:nvSpPr>
        <p:spPr>
          <a:xfrm>
            <a:off x="6355080" y="1737360"/>
            <a:ext cx="46630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AA7C2"/>
                </a:solidFill>
                <a:effectLst/>
                <a:uFillTx/>
                <a:latin typeface="Arial"/>
                <a:ea typeface="Arial"/>
              </a:rPr>
              <a:t>Companion NPU project sharing the same compressed-weight streaming interface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7"/>
          <p:cNvSpPr/>
          <p:nvPr/>
        </p:nvSpPr>
        <p:spPr>
          <a:xfrm>
            <a:off x="548640" y="320040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4FD1C5"/>
                </a:solidFill>
                <a:effectLst/>
                <a:uFillTx/>
                <a:latin typeface="Arial"/>
                <a:ea typeface="Arial"/>
              </a:rPr>
              <a:t>PROJECT STATUS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8"/>
          <p:cNvSpPr/>
          <p:nvPr/>
        </p:nvSpPr>
        <p:spPr>
          <a:xfrm>
            <a:off x="548640" y="3684960"/>
            <a:ext cx="182520" cy="182520"/>
          </a:xfrm>
          <a:prstGeom prst="roundRect">
            <a:avLst>
              <a:gd name="adj" fmla="val 20000"/>
            </a:avLst>
          </a:prstGeom>
          <a:solidFill>
            <a:srgbClr val="4FD1C5"/>
          </a:solidFill>
          <a:ln w="15240">
            <a:solidFill>
              <a:srgbClr val="4FD1C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9"/>
          <p:cNvSpPr/>
          <p:nvPr/>
        </p:nvSpPr>
        <p:spPr>
          <a:xfrm>
            <a:off x="530280" y="3602880"/>
            <a:ext cx="228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B1220"/>
                </a:solidFill>
                <a:effectLst/>
                <a:uFillTx/>
                <a:latin typeface="Arial"/>
                <a:ea typeface="Arial"/>
              </a:rPr>
              <a:t>✓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0"/>
          <p:cNvSpPr/>
          <p:nvPr/>
        </p:nvSpPr>
        <p:spPr>
          <a:xfrm>
            <a:off x="841320" y="3611880"/>
            <a:ext cx="4827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DF7"/>
                </a:solidFill>
                <a:effectLst/>
                <a:uFillTx/>
                <a:latin typeface="Arial"/>
                <a:ea typeface="Arial"/>
              </a:rPr>
              <a:t>Dense baseline established (Qwen3-8B)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11"/>
          <p:cNvSpPr/>
          <p:nvPr/>
        </p:nvSpPr>
        <p:spPr>
          <a:xfrm>
            <a:off x="548640" y="4069080"/>
            <a:ext cx="182520" cy="182520"/>
          </a:xfrm>
          <a:prstGeom prst="roundRect">
            <a:avLst>
              <a:gd name="adj" fmla="val 20000"/>
            </a:avLst>
          </a:prstGeom>
          <a:solidFill>
            <a:srgbClr val="4FD1C5"/>
          </a:solidFill>
          <a:ln w="15240">
            <a:solidFill>
              <a:srgbClr val="4FD1C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2"/>
          <p:cNvSpPr/>
          <p:nvPr/>
        </p:nvSpPr>
        <p:spPr>
          <a:xfrm>
            <a:off x="530280" y="3986640"/>
            <a:ext cx="228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B1220"/>
                </a:solidFill>
                <a:effectLst/>
                <a:uFillTx/>
                <a:latin typeface="Arial"/>
                <a:ea typeface="Arial"/>
              </a:rPr>
              <a:t>✓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3"/>
          <p:cNvSpPr/>
          <p:nvPr/>
        </p:nvSpPr>
        <p:spPr>
          <a:xfrm>
            <a:off x="841320" y="3996000"/>
            <a:ext cx="4827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DF7"/>
                </a:solidFill>
                <a:effectLst/>
                <a:uFillTx/>
                <a:latin typeface="Arial"/>
                <a:ea typeface="Arial"/>
              </a:rPr>
              <a:t>SparseGPT pruning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14"/>
          <p:cNvSpPr/>
          <p:nvPr/>
        </p:nvSpPr>
        <p:spPr>
          <a:xfrm>
            <a:off x="548640" y="4453200"/>
            <a:ext cx="182520" cy="182520"/>
          </a:xfrm>
          <a:prstGeom prst="roundRect">
            <a:avLst>
              <a:gd name="adj" fmla="val 20000"/>
            </a:avLst>
          </a:prstGeom>
          <a:solidFill>
            <a:srgbClr val="4FD1C5"/>
          </a:solidFill>
          <a:ln w="15240">
            <a:solidFill>
              <a:srgbClr val="4FD1C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5"/>
          <p:cNvSpPr/>
          <p:nvPr/>
        </p:nvSpPr>
        <p:spPr>
          <a:xfrm>
            <a:off x="530280" y="4370760"/>
            <a:ext cx="228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B1220"/>
                </a:solidFill>
                <a:effectLst/>
                <a:uFillTx/>
                <a:latin typeface="Arial"/>
                <a:ea typeface="Arial"/>
              </a:rPr>
              <a:t>✓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6"/>
          <p:cNvSpPr/>
          <p:nvPr/>
        </p:nvSpPr>
        <p:spPr>
          <a:xfrm>
            <a:off x="841320" y="4380120"/>
            <a:ext cx="4827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DF7"/>
                </a:solidFill>
                <a:effectLst/>
                <a:uFillTx/>
                <a:latin typeface="Arial"/>
                <a:ea typeface="Arial"/>
              </a:rPr>
              <a:t>AWQ 4-bit quantization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8"/>
          <p:cNvSpPr/>
          <p:nvPr/>
        </p:nvSpPr>
        <p:spPr>
          <a:xfrm>
            <a:off x="530280" y="4754880"/>
            <a:ext cx="228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B1220"/>
                </a:solidFill>
                <a:effectLst/>
                <a:uFillTx/>
                <a:latin typeface="Arial"/>
                <a:ea typeface="Arial"/>
              </a:rPr>
              <a:t>✓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20"/>
          <p:cNvSpPr/>
          <p:nvPr/>
        </p:nvSpPr>
        <p:spPr>
          <a:xfrm>
            <a:off x="530280" y="4836960"/>
            <a:ext cx="182520" cy="182520"/>
          </a:xfrm>
          <a:prstGeom prst="roundRect">
            <a:avLst>
              <a:gd name="adj" fmla="val 20000"/>
            </a:avLst>
          </a:prstGeom>
          <a:solidFill>
            <a:srgbClr val="4FD1C5"/>
          </a:solidFill>
          <a:ln w="15240">
            <a:solidFill>
              <a:srgbClr val="4FD1C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21"/>
          <p:cNvSpPr/>
          <p:nvPr/>
        </p:nvSpPr>
        <p:spPr>
          <a:xfrm>
            <a:off x="511920" y="4754880"/>
            <a:ext cx="228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B1220"/>
                </a:solidFill>
                <a:effectLst/>
                <a:uFillTx/>
                <a:latin typeface="Arial"/>
                <a:ea typeface="Arial"/>
              </a:rPr>
              <a:t>✓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22"/>
          <p:cNvSpPr/>
          <p:nvPr/>
        </p:nvSpPr>
        <p:spPr>
          <a:xfrm>
            <a:off x="822960" y="4763880"/>
            <a:ext cx="4827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DF7"/>
                </a:solidFill>
                <a:effectLst/>
                <a:uFillTx/>
                <a:latin typeface="Arial"/>
                <a:ea typeface="Arial"/>
              </a:rPr>
              <a:t>Offline tile-wise Zstd compression (3 streams)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23"/>
          <p:cNvSpPr/>
          <p:nvPr/>
        </p:nvSpPr>
        <p:spPr>
          <a:xfrm>
            <a:off x="6126480" y="3684960"/>
            <a:ext cx="182520" cy="182520"/>
          </a:xfrm>
          <a:prstGeom prst="roundRect">
            <a:avLst>
              <a:gd name="adj" fmla="val 20000"/>
            </a:avLst>
          </a:prstGeom>
          <a:noFill/>
          <a:ln w="15240">
            <a:solidFill>
              <a:srgbClr val="9AA7C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24"/>
          <p:cNvSpPr/>
          <p:nvPr/>
        </p:nvSpPr>
        <p:spPr>
          <a:xfrm>
            <a:off x="6419160" y="3611880"/>
            <a:ext cx="4827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9AA7C2"/>
                </a:solidFill>
                <a:effectLst/>
                <a:uFillTx/>
                <a:latin typeface="Arial"/>
                <a:ea typeface="Arial"/>
              </a:rPr>
              <a:t>Decompression accelerator RTL (weights)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25"/>
          <p:cNvSpPr/>
          <p:nvPr/>
        </p:nvSpPr>
        <p:spPr>
          <a:xfrm>
            <a:off x="6126480" y="4069080"/>
            <a:ext cx="182520" cy="182520"/>
          </a:xfrm>
          <a:prstGeom prst="roundRect">
            <a:avLst>
              <a:gd name="adj" fmla="val 20000"/>
            </a:avLst>
          </a:prstGeom>
          <a:noFill/>
          <a:ln w="15240">
            <a:solidFill>
              <a:srgbClr val="9AA7C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26"/>
          <p:cNvSpPr/>
          <p:nvPr/>
        </p:nvSpPr>
        <p:spPr>
          <a:xfrm>
            <a:off x="6419160" y="3996000"/>
            <a:ext cx="4827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9AA7C2"/>
                </a:solidFill>
                <a:effectLst/>
                <a:uFillTx/>
                <a:latin typeface="Arial"/>
                <a:ea typeface="Arial"/>
              </a:rPr>
              <a:t>Compression accelerator RTL (KV cache)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27"/>
          <p:cNvSpPr/>
          <p:nvPr/>
        </p:nvSpPr>
        <p:spPr>
          <a:xfrm>
            <a:off x="6126480" y="4453200"/>
            <a:ext cx="182520" cy="182520"/>
          </a:xfrm>
          <a:prstGeom prst="roundRect">
            <a:avLst>
              <a:gd name="adj" fmla="val 20000"/>
            </a:avLst>
          </a:prstGeom>
          <a:noFill/>
          <a:ln w="15240">
            <a:solidFill>
              <a:srgbClr val="9AA7C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28"/>
          <p:cNvSpPr/>
          <p:nvPr/>
        </p:nvSpPr>
        <p:spPr>
          <a:xfrm>
            <a:off x="6419160" y="4380120"/>
            <a:ext cx="4827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9AA7C2"/>
                </a:solidFill>
                <a:effectLst/>
                <a:uFillTx/>
                <a:latin typeface="Arial"/>
                <a:ea typeface="Arial"/>
              </a:rPr>
              <a:t>Integration with Shrutam-2 / Sooktam datapath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29"/>
          <p:cNvSpPr/>
          <p:nvPr/>
        </p:nvSpPr>
        <p:spPr>
          <a:xfrm>
            <a:off x="6126480" y="4837320"/>
            <a:ext cx="182520" cy="182520"/>
          </a:xfrm>
          <a:prstGeom prst="roundRect">
            <a:avLst>
              <a:gd name="adj" fmla="val 20000"/>
            </a:avLst>
          </a:prstGeom>
          <a:noFill/>
          <a:ln w="15240">
            <a:solidFill>
              <a:srgbClr val="9AA7C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30"/>
          <p:cNvSpPr/>
          <p:nvPr/>
        </p:nvSpPr>
        <p:spPr>
          <a:xfrm>
            <a:off x="6419160" y="4763880"/>
            <a:ext cx="4827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9AA7C2"/>
                </a:solidFill>
                <a:effectLst/>
                <a:uFillTx/>
                <a:latin typeface="Arial"/>
                <a:ea typeface="Arial"/>
              </a:rPr>
              <a:t>Real-time throughput / latency characterization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31"/>
          <p:cNvSpPr/>
          <p:nvPr/>
        </p:nvSpPr>
        <p:spPr>
          <a:xfrm>
            <a:off x="365760" y="653796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AA7C2"/>
                </a:solidFill>
                <a:effectLst/>
                <a:uFillTx/>
                <a:latin typeface="Arial"/>
                <a:ea typeface="Arial"/>
              </a:rPr>
              <a:t>Edge-LLM Codec  |  Platforms &amp; Status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LibreOffice/26.2.3.2$Linux_X86_64 LibreOffice_project/620$Build-2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2026-08-18T04:04:19Z</dcterms:created>
  <dc:creator>PptxGenJS</dc:creator>
  <dc:description/>
  <dc:language>en-US</dc:language>
  <cp:lastModifiedBy/>
  <dcterms:modified xsi:type="dcterms:W3CDTF">2026-08-19T14:50:53Z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7</vt:r8>
  </property>
  <property fmtid="{D5CDD505-2E9C-101B-9397-08002B2CF9AE}" pid="3" name="PresentationFormat">
    <vt:lpwstr>On-screen Show (16:9)</vt:lpwstr>
  </property>
  <property fmtid="{D5CDD505-2E9C-101B-9397-08002B2CF9AE}" pid="4" name="Slides">
    <vt:r8>7</vt:r8>
  </property>
</Properties>
</file>